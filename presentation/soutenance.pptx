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AquaPriorité — priorisation des investissements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Quels territoires explorer sous contraintes budgétaires et données incomplètes ?</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Quels territoires explorer sous contraintes budgétaires et données incomplètes ?</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'eau', 'brut': 7240, 'doublons': 40, 'rejets': 20, 'propre': 7180}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observations : 7180</a:t>
            </a:r>
          </a:p>
          <a:p>
            <a:pPr>
              <a:spcAft>
                <a:spcPts val="1800"/>
              </a:spcAft>
              <a:defRPr sz="2000"/>
            </a:pPr>
            <a:r>
              <a:t>valeurs acces manquantes : 120</a:t>
            </a:r>
          </a:p>
          <a:p>
            <a:pPr>
              <a:spcAft>
                <a:spcPts val="1800"/>
              </a:spcAft>
              <a:defRPr sz="2000"/>
            </a:pPr>
            <a:r>
              <a:t>pays eligibles 2024 : 170</a:t>
            </a:r>
          </a:p>
          <a:p>
            <a:pPr>
              <a:spcAft>
                <a:spcPts val="1800"/>
              </a:spcAft>
              <a:defRPr sz="2000"/>
            </a:pPr>
            <a:r>
              <a:t>pays exclus 2024 : 10</a:t>
            </a:r>
          </a:p>
          <a:p>
            <a:pPr>
              <a:spcAft>
                <a:spcPts val="1800"/>
              </a:spcAft>
              <a:defRPr sz="2000"/>
            </a:pPr>
            <a:r>
              <a:t>beneficiaires potentiels eligibles : 72,767,347.2772</a:t>
            </a:r>
          </a:p>
          <a:p>
            <a:pPr>
              <a:spcAft>
                <a:spcPts val="1800"/>
              </a:spcAft>
              <a:defRPr sz="2000"/>
            </a:pPr>
            <a:r>
              <a:t>budget global eur : 500,000,000.0000</a:t>
            </a:r>
          </a:p>
          <a:p>
            <a:pPr>
              <a:spcAft>
                <a:spcPts val="1800"/>
              </a:spcAft>
              <a:defRPr sz="2000"/>
            </a:pPr>
            <a:r>
              <a:t>cout allocation eur : 496,361,865.9200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beneficiaires allocation : 5,118,163.2159</a:t>
            </a:r>
          </a:p>
          <a:p>
            <a:pPr>
              <a:spcAft>
                <a:spcPts val="1800"/>
              </a:spcAft>
              <a:defRPr sz="2000"/>
            </a:pPr>
            <a:r>
              <a:t>projets allocation : 8</a:t>
            </a:r>
          </a:p>
          <a:p>
            <a:pPr>
              <a:spcAft>
                <a:spcPts val="1800"/>
              </a:spcAft>
              <a:defRPr sz="2000"/>
            </a:pPr>
            <a:r>
              <a:t>beneficiaires heuristique : 4,903,551.2121</a:t>
            </a:r>
          </a:p>
          <a:p>
            <a:pPr>
              <a:spcAft>
                <a:spcPts val="1800"/>
              </a:spcAft>
              <a:defRPr sz="2000"/>
            </a:pPr>
            <a:r>
              <a:t>ecart optimisation personnes : 214,612.0038</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170 pays fictifs avec deux zones observées en 2024 peuvent être classés.</a:t>
            </a:r>
          </a:p>
          <a:p>
            <a:pPr>
              <a:spcAft>
                <a:spcPts val="1800"/>
              </a:spcAft>
              <a:defRPr sz="2000"/>
            </a:pPr>
            <a:r>
              <a:t>120 valeurs manquantes conservées ; taux régionaux accompagnés de couverture.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Besoin regional</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pic>
        <p:nvPicPr>
          <p:cNvPr id="5" name="Picture 4" descr="besoin_regional.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Stabilite priorites</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pic>
        <p:nvPicPr>
          <p:cNvPr id="5" name="Picture 4" descr="stabilite_priorites.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Ne pas confondre absence de donnée et absence d’accès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jeu conserve 120 taux d’accès manquants. Pour ces lignes, la population observée vaut zéro au dénominateur de la statistique d’accès, mais le taux lui-même reste manquant. La population totale reste disponible afin de publier la couverture.</a:t>
            </a:r>
          </a:p>
          <a:p>
            <a:pPr>
              <a:spcAft>
                <a:spcPts val="1800"/>
              </a:spcAft>
              <a:defRPr sz="2000"/>
            </a:pPr>
            <a:r>
              <a:t>Le nombre sans accès est population × (1 − taux / 100). Le taux régional se calcule par somme des personnes sans accès / somme de population observée. Une moyenne simple de pourcentages ruraux, urbains ou territoriaux n’aurait pas les mêmes poids.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Définir l’éligibilité et le potentiel de projet</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Un territoire entre dans le classement seulement si les deux zones possèdent un taux en 2024. 170 satisfont ce critère et 10 sont écartés. L’exclusion évite une somme partielle, mais elle peut aussi écarter des territoires ayant besoin d’une meilleure collecte.</a:t>
            </a:r>
          </a:p>
          <a:p>
            <a:pPr>
              <a:spcAft>
                <a:spcPts val="1800"/>
              </a:spcAft>
              <a:defRPr sz="2000"/>
            </a:pPr>
            <a:r>
              <a:t>Le nombre théorique de bénéficiaires d’une zone est min(personnes sans accès, budget de zone / coût par bénéficiaire). Cette formule plafonne le bénéfice au besoin observé. Elle suppose un coût linéaire, aucune perte de financement, aucun coût fixe et un projet réalisable.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Challenger un classement par les pondérations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 scoring compare besoin, bénéficiaires potentiels et coût à partir de rangs normalisés. Trois scénarios changent les poids : 50/30/20, 30/50/20 et 40/20/40. La direction peut ainsi voir si une préférence sur le rendement ou le coût modifie fortement les priorités.</a:t>
            </a:r>
          </a:p>
          <a:p>
            <a:pPr>
              <a:spcAft>
                <a:spcPts val="1800"/>
              </a:spcAft>
              <a:defRPr sz="2000"/>
            </a:pPr>
            <a:r>
              <a:t>L’intersection des trois top 20 contient 13 territoires. Cette intersection identifie des candidats relativement robustes à ces trois préférences seulement ; elle ne garantit pas une robustesse aux données, aux coûts ou à un autre système de critères.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Allouer un budget global avec des contraintes explicites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Une variable binaire par territoire représente la sélection ou non du projet complet. L’objectif est de maximiser la somme des bénéficiaires théoriques. Les contraintes sont : coût total &lt;= 500 millions EUR, au plus douze projets, au moins un projet dans chacune des six régions.</a:t>
            </a:r>
          </a:p>
          <a:p>
            <a:pPr>
              <a:spcAft>
                <a:spcPts val="1800"/>
              </a:spcAft>
              <a:defRPr sz="2000"/>
            </a:pPr>
            <a:r>
              <a:t>Le solveur trouve 8 projets, 496 361 866 EUR de coût et 5 118 163 bénéficiaires. Le budget restant est 3 638 134 EUR. Les contrôles vérifient budget, cardinalité et représentation régionale, au lieu de supposer que le rang a résolu le problème.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Rendre la décision vérifiable dans le tableau de bord</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Les trois vues recommandées séparent couverture/tendance, priorités par scénario et allocation sous contraintes. Elles affichent année, unité, éligibilité, couverture et hypothèses de coût. Les territoires sont fictifs : une carte géographique serait trompeuse.</a:t>
            </a:r>
          </a:p>
          <a:p>
            <a:pPr>
              <a:spcAft>
                <a:spcPts val="1800"/>
              </a:spcAft>
              <a:defRPr sz="2000"/>
            </a:pPr>
            <a:r>
              <a:t>La table des scénarios contient plusieurs lignes par territoire. Une jointure physique non maîtrisée aux faits de population multiplierait les personnes et bénéficiaires. Les vues utilisent des sources séparées ou une relation contrôlée au grain adéquat.</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Comparer trois pondérations et privilégier les priorités stables.</a:t>
            </a:r>
          </a:p>
          <a:p>
            <a:pPr>
              <a:spcAft>
                <a:spcPts val="1800"/>
              </a:spcAft>
              <a:defRPr sz="2000"/>
            </a:pPr>
            <a:r>
              <a:t>Afficher couverture, unité et année dans les infobulles.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Aucune donnée réelle OMS/JMP ou géographique ; aucune carte de pays fictifs.</a:t>
            </a:r>
          </a:p>
          <a:p>
            <a:pPr>
              <a:spcAft>
                <a:spcPts val="1800"/>
              </a:spcAft>
              <a:defRPr sz="2000"/>
            </a:pPr>
            <a:r>
              <a:t>Bénéficiaires théoriques sans faisabilité locale.</a:t>
            </a:r>
          </a:p>
          <a:p>
            <a:pPr>
              <a:spcAft>
                <a:spcPts val="1800"/>
              </a:spcAft>
              <a:defRPr sz="2000"/>
            </a:pPr>
            <a:r>
              <a:t>Taux pondérés sur population observée ; ne pas assimiler les manquants à un accès nul.</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AquaPriorite</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